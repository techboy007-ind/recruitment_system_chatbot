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4.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60" r:id="rId7"/>
    <p:sldId id="261" r:id="rId8"/>
    <p:sldId id="262" r:id="rId9"/>
    <p:sldId id="263" r:id="rId10"/>
    <p:sldId id="264" r:id="rId11"/>
    <p:sldId id="265" r:id="rId12"/>
    <p:sldId id="266" r:id="rId13"/>
  </p:sldIdLst>
  <p:sldSz cx="9144000" cy="5143500" type="screen16x9"/>
  <p:notesSz cx="5143500" cy="9144000"/>
  <p:embeddedFontLst>
    <p:embeddedFont>
      <p:font typeface="Inter Bold" panose="02000503000000020004" pitchFamily="34" charset="0"/>
      <p:bold r:id="rId17"/>
    </p:embeddedFont>
    <p:embeddedFont>
      <p:font typeface="Inter Bold" panose="02000503000000020004" pitchFamily="34" charset="-122"/>
      <p:bold r:id="rId18"/>
    </p:embeddedFont>
    <p:embeddedFont>
      <p:font typeface="Inter Bold" panose="02000503000000020004" pitchFamily="34" charset="-120"/>
      <p:bold r:id="rId19"/>
    </p:embeddedFont>
    <p:embeddedFont>
      <p:font typeface="Inter" panose="02000503000000020004" pitchFamily="34" charset="0"/>
      <p:regular r:id="rId20"/>
    </p:embeddedFont>
    <p:embeddedFont>
      <p:font typeface="Inter" panose="02000503000000020004" pitchFamily="34" charset="-122"/>
      <p:regular r:id="rId21"/>
    </p:embeddedFont>
    <p:embeddedFont>
      <p:font typeface="Inter" panose="02000503000000020004" pitchFamily="34" charset="-12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p:spPr>
      </p:sp>
      <p:sp>
        <p:nvSpPr>
          <p:cNvPr id="3" name="Shape 1"/>
          <p:cNvSpPr/>
          <p:nvPr/>
        </p:nvSpPr>
        <p:spPr>
          <a:xfrm>
            <a:off x="0" y="0"/>
            <a:ext cx="9144000" cy="5143500"/>
          </a:xfrm>
          <a:prstGeom prst="rect">
            <a:avLst/>
          </a:prstGeom>
          <a:solidFill>
            <a:srgbClr val="FFFFFF"/>
          </a:solidFill>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4.sv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764655"/>
            <a:ext cx="4001319" cy="442987"/>
          </a:xfrm>
          <a:prstGeom prst="rect">
            <a:avLst/>
          </a:prstGeom>
          <a:noFill/>
        </p:spPr>
        <p:txBody>
          <a:bodyPr wrap="none" lIns="0" tIns="0" rIns="0" bIns="0" rtlCol="0" anchor="t"/>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HireGraph AI</a:t>
            </a:r>
            <a:endParaRPr lang="en-US" sz="2750" dirty="0"/>
          </a:p>
        </p:txBody>
      </p:sp>
      <p:sp>
        <p:nvSpPr>
          <p:cNvPr id="4" name="Text 1"/>
          <p:cNvSpPr/>
          <p:nvPr/>
        </p:nvSpPr>
        <p:spPr>
          <a:xfrm>
            <a:off x="496119" y="2264346"/>
            <a:ext cx="4561508"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Automating Recruitment with LangGraph &amp; RAG</a:t>
            </a:r>
            <a:endParaRPr lang="en-US" sz="1350" dirty="0"/>
          </a:p>
        </p:txBody>
      </p:sp>
      <p:sp>
        <p:nvSpPr>
          <p:cNvPr id="5" name="Text 2"/>
          <p:cNvSpPr/>
          <p:nvPr/>
        </p:nvSpPr>
        <p:spPr>
          <a:xfrm>
            <a:off x="496119" y="2698403"/>
            <a:ext cx="4722763" cy="680442"/>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An intelligent terminal-based hiring assistant powered by a state graph architecture with human-in-the-loop confirmation — built for speed, consistency, and explainability.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47452"/>
            <a:ext cx="4722763" cy="885974"/>
          </a:xfrm>
          <a:prstGeom prst="rect">
            <a:avLst/>
          </a:prstGeom>
          <a:noFill/>
        </p:spPr>
        <p:txBody>
          <a:bodyPr wrap="square" lIns="0" tIns="0" rIns="0" bIns="0" rtlCol="0" anchor="t">
            <a:normAutofit/>
          </a:bodyPr>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The Problem with Manual Recruitment</a:t>
            </a:r>
            <a:endParaRPr lang="en-US" sz="2750" dirty="0"/>
          </a:p>
        </p:txBody>
      </p:sp>
      <p:sp>
        <p:nvSpPr>
          <p:cNvPr id="4" name="Shape 1"/>
          <p:cNvSpPr/>
          <p:nvPr/>
        </p:nvSpPr>
        <p:spPr>
          <a:xfrm>
            <a:off x="496119" y="1546027"/>
            <a:ext cx="2290465" cy="1955081"/>
          </a:xfrm>
          <a:prstGeom prst="roundRect">
            <a:avLst>
              <a:gd name="adj" fmla="val 3046"/>
            </a:avLst>
          </a:prstGeom>
          <a:solidFill>
            <a:srgbClr val="DADBF1"/>
          </a:solidFill>
          <a:ln w="4763">
            <a:solidFill>
              <a:srgbClr val="C0C1D7"/>
            </a:solidFill>
            <a:prstDash val="solid"/>
          </a:ln>
        </p:spPr>
      </p:sp>
      <p:sp>
        <p:nvSpPr>
          <p:cNvPr id="5" name="Text 2"/>
          <p:cNvSpPr/>
          <p:nvPr/>
        </p:nvSpPr>
        <p:spPr>
          <a:xfrm>
            <a:off x="642640" y="1692548"/>
            <a:ext cx="1881485"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Repetitive Reading</a:t>
            </a:r>
            <a:endParaRPr lang="en-US" sz="1350" dirty="0"/>
          </a:p>
        </p:txBody>
      </p:sp>
      <p:sp>
        <p:nvSpPr>
          <p:cNvPr id="6" name="Text 3"/>
          <p:cNvSpPr/>
          <p:nvPr/>
        </p:nvSpPr>
        <p:spPr>
          <a:xfrm>
            <a:off x="642640" y="1999059"/>
            <a:ext cx="1997422" cy="1134070"/>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Recruiters re-read the same job descriptions and resumes from scratch for every new query, with no reusable context.</a:t>
            </a:r>
            <a:endParaRPr lang="en-US" sz="1100" dirty="0"/>
          </a:p>
        </p:txBody>
      </p:sp>
      <p:sp>
        <p:nvSpPr>
          <p:cNvPr id="7" name="Shape 4"/>
          <p:cNvSpPr/>
          <p:nvPr/>
        </p:nvSpPr>
        <p:spPr>
          <a:xfrm>
            <a:off x="2928342" y="1546027"/>
            <a:ext cx="2290539" cy="1955081"/>
          </a:xfrm>
          <a:prstGeom prst="roundRect">
            <a:avLst>
              <a:gd name="adj" fmla="val 3046"/>
            </a:avLst>
          </a:prstGeom>
          <a:solidFill>
            <a:srgbClr val="DADBF1"/>
          </a:solidFill>
          <a:ln w="4763">
            <a:solidFill>
              <a:srgbClr val="C0C1D7"/>
            </a:solidFill>
            <a:prstDash val="solid"/>
          </a:ln>
        </p:spPr>
      </p:sp>
      <p:sp>
        <p:nvSpPr>
          <p:cNvPr id="8" name="Text 5"/>
          <p:cNvSpPr/>
          <p:nvPr/>
        </p:nvSpPr>
        <p:spPr>
          <a:xfrm>
            <a:off x="3074863" y="1692548"/>
            <a:ext cx="1997497" cy="442913"/>
          </a:xfrm>
          <a:prstGeom prst="rect">
            <a:avLst/>
          </a:prstGeom>
          <a:noFill/>
        </p:spPr>
        <p:txBody>
          <a:bodyPr wrap="square" lIns="0" tIns="0" rIns="0" bIns="0" rtlCol="0" anchor="t">
            <a:normAutofit/>
          </a:bodyPr>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Inconsistent Screening</a:t>
            </a:r>
            <a:endParaRPr lang="en-US" sz="1350" dirty="0"/>
          </a:p>
        </p:txBody>
      </p:sp>
      <p:sp>
        <p:nvSpPr>
          <p:cNvPr id="9" name="Text 6"/>
          <p:cNvSpPr/>
          <p:nvPr/>
        </p:nvSpPr>
        <p:spPr>
          <a:xfrm>
            <a:off x="3074863" y="2220516"/>
            <a:ext cx="1997497" cy="1134070"/>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Manual evaluation introduces subjective bias and inconsistency across candidates and hiring managers.</a:t>
            </a:r>
            <a:endParaRPr lang="en-US" sz="1100" dirty="0"/>
          </a:p>
        </p:txBody>
      </p:sp>
      <p:sp>
        <p:nvSpPr>
          <p:cNvPr id="10" name="Shape 7"/>
          <p:cNvSpPr/>
          <p:nvPr/>
        </p:nvSpPr>
        <p:spPr>
          <a:xfrm>
            <a:off x="496119" y="3642866"/>
            <a:ext cx="4722763" cy="1053182"/>
          </a:xfrm>
          <a:prstGeom prst="roundRect">
            <a:avLst>
              <a:gd name="adj" fmla="val 5654"/>
            </a:avLst>
          </a:prstGeom>
          <a:solidFill>
            <a:srgbClr val="DADBF1"/>
          </a:solidFill>
          <a:ln w="4763">
            <a:solidFill>
              <a:srgbClr val="C0C1D7"/>
            </a:solidFill>
            <a:prstDash val="solid"/>
          </a:ln>
        </p:spPr>
      </p:sp>
      <p:sp>
        <p:nvSpPr>
          <p:cNvPr id="11" name="Text 8"/>
          <p:cNvSpPr/>
          <p:nvPr/>
        </p:nvSpPr>
        <p:spPr>
          <a:xfrm>
            <a:off x="642640" y="3789387"/>
            <a:ext cx="2266578"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Hours Lost to Research</a:t>
            </a:r>
            <a:endParaRPr lang="en-US" sz="1350" dirty="0"/>
          </a:p>
        </p:txBody>
      </p:sp>
      <p:sp>
        <p:nvSpPr>
          <p:cNvPr id="12" name="Text 9"/>
          <p:cNvSpPr/>
          <p:nvPr/>
        </p:nvSpPr>
        <p:spPr>
          <a:xfrm>
            <a:off x="642640" y="4095899"/>
            <a:ext cx="4429720" cy="453628"/>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Salary benchmarking and skill trend analysis consume hours per open role — time that should go to strategic hiring decisions.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06896"/>
            <a:ext cx="3945954" cy="436066"/>
          </a:xfrm>
          <a:prstGeom prst="rect">
            <a:avLst/>
          </a:prstGeom>
          <a:noFill/>
        </p:spPr>
        <p:txBody>
          <a:bodyPr wrap="none" lIns="0" tIns="0" rIns="0" bIns="0" rtlCol="0" anchor="t"/>
          <a:lstStyle/>
          <a:p>
            <a:pPr marL="0" indent="0" algn="l">
              <a:lnSpc>
                <a:spcPct val="104000"/>
              </a:lnSpc>
              <a:buNone/>
            </a:pPr>
            <a:r>
              <a:rPr lang="en-US" sz="270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Solution Overview</a:t>
            </a:r>
            <a:endParaRPr lang="en-US" sz="2700" dirty="0"/>
          </a:p>
        </p:txBody>
      </p:sp>
      <p:pic>
        <p:nvPicPr>
          <p:cNvPr id="3" name="Image 0" descr="preencoded.png"/>
          <p:cNvPicPr>
            <a:picLocks noChangeAspect="1"/>
          </p:cNvPicPr>
          <p:nvPr/>
        </p:nvPicPr>
        <p:blipFill>
          <a:blip r:embed="rId1"/>
          <a:stretch>
            <a:fillRect/>
          </a:stretch>
        </p:blipFill>
        <p:spPr>
          <a:xfrm>
            <a:off x="496119" y="1400696"/>
            <a:ext cx="5179516" cy="2639169"/>
          </a:xfrm>
          <a:prstGeom prst="rect">
            <a:avLst/>
          </a:prstGeom>
        </p:spPr>
      </p:pic>
      <p:sp>
        <p:nvSpPr>
          <p:cNvPr id="4" name="Text 1"/>
          <p:cNvSpPr/>
          <p:nvPr/>
        </p:nvSpPr>
        <p:spPr>
          <a:xfrm>
            <a:off x="496119" y="4194349"/>
            <a:ext cx="5636716" cy="221456"/>
          </a:xfrm>
          <a:prstGeom prst="rect">
            <a:avLst/>
          </a:prstGeom>
          <a:noFill/>
        </p:spPr>
        <p:txBody>
          <a:bodyPr wrap="none" lIns="0" tIns="0" rIns="0" bIns="0" rtlCol="0" anchor="t"/>
          <a:lstStyle/>
          <a:p>
            <a:pPr marL="0" indent="0" algn="l">
              <a:lnSpc>
                <a:spcPct val="132000"/>
              </a:lnSpc>
              <a:buNone/>
            </a:pPr>
            <a:endParaRPr lang="en-US" sz="1050" dirty="0"/>
          </a:p>
        </p:txBody>
      </p:sp>
      <p:sp>
        <p:nvSpPr>
          <p:cNvPr id="5" name="Text 2"/>
          <p:cNvSpPr/>
          <p:nvPr/>
        </p:nvSpPr>
        <p:spPr>
          <a:xfrm>
            <a:off x="6020767" y="1186383"/>
            <a:ext cx="3030736" cy="218033"/>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A Conversational Hiring Agent</a:t>
            </a:r>
            <a:endParaRPr lang="en-US" sz="1350" dirty="0"/>
          </a:p>
        </p:txBody>
      </p:sp>
      <p:sp>
        <p:nvSpPr>
          <p:cNvPr id="6" name="Text 3"/>
          <p:cNvSpPr/>
          <p:nvPr/>
        </p:nvSpPr>
        <p:spPr>
          <a:xfrm>
            <a:off x="6020767" y="1541785"/>
            <a:ext cx="2631877" cy="1107281"/>
          </a:xfrm>
          <a:prstGeom prst="rect">
            <a:avLst/>
          </a:prstGeom>
          <a:noFill/>
        </p:spPr>
        <p:txBody>
          <a:bodyPr wrap="square" lIns="0" tIns="0" rIns="0" bIns="0" rtlCol="0" anchor="t">
            <a:normAutofit/>
          </a:bodyPr>
          <a:lstStyle/>
          <a:p>
            <a:pPr marL="0" indent="0" algn="l">
              <a:lnSpc>
                <a:spcPct val="132000"/>
              </a:lnSpc>
              <a:buNone/>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HireGraph AI is a conversational agent built as a </a:t>
            </a:r>
            <a:r>
              <a:rPr lang="en-US" sz="10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LangGraph state machine</a:t>
            </a: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 It operates entirely through a natural terminal chat interface and handles the full recruiter workflow:</a:t>
            </a:r>
            <a:endParaRPr lang="en-US" sz="1050" dirty="0"/>
          </a:p>
        </p:txBody>
      </p:sp>
      <p:sp>
        <p:nvSpPr>
          <p:cNvPr id="7" name="Text 4"/>
          <p:cNvSpPr/>
          <p:nvPr/>
        </p:nvSpPr>
        <p:spPr>
          <a:xfrm>
            <a:off x="6020767" y="2772668"/>
            <a:ext cx="2631877" cy="1915864"/>
          </a:xfrm>
          <a:prstGeom prst="rect">
            <a:avLst/>
          </a:prstGeom>
          <a:noFill/>
        </p:spPr>
        <p:txBody>
          <a:bodyPr wrap="square" lIns="0" tIns="0" rIns="0" bIns="0" rtlCol="0" anchor="t">
            <a:normAutofit/>
          </a:bodyPr>
          <a:lstStyle/>
          <a:p>
            <a:pPr marL="213360" indent="-213360" algn="l">
              <a:lnSpc>
                <a:spcPct val="132000"/>
              </a:lnSpc>
              <a:buSzPct val="100000"/>
              <a:buChar char="•"/>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Parses and structures job descriptions automatically</a:t>
            </a:r>
            <a:endParaRPr lang="en-US" sz="1050" dirty="0"/>
          </a:p>
          <a:p>
            <a:pPr marL="213360" indent="-213360" algn="l">
              <a:lnSpc>
                <a:spcPct val="132000"/>
              </a:lnSpc>
              <a:buSzPct val="100000"/>
              <a:buChar char="•"/>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Screens resumes via Retrieval-Augmented Generation (RAG)</a:t>
            </a:r>
            <a:endParaRPr lang="en-US" sz="1050" dirty="0"/>
          </a:p>
          <a:p>
            <a:pPr marL="213360" indent="-213360" algn="l">
              <a:lnSpc>
                <a:spcPct val="132000"/>
              </a:lnSpc>
              <a:buSzPct val="100000"/>
              <a:buChar char="•"/>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Automates shortlisting, comparison, and scheduling tasks</a:t>
            </a:r>
            <a:endParaRPr lang="en-US" sz="1050" dirty="0"/>
          </a:p>
          <a:p>
            <a:pPr marL="213360" indent="-213360" algn="l">
              <a:lnSpc>
                <a:spcPct val="132000"/>
              </a:lnSpc>
              <a:buSzPct val="100000"/>
              <a:buChar char="•"/>
            </a:pPr>
            <a:r>
              <a:rPr lang="en-US" sz="1050" dirty="0">
                <a:solidFill>
                  <a:srgbClr val="272525"/>
                </a:solidFill>
                <a:latin typeface="Inter" panose="02000503000000020004" pitchFamily="34" charset="0"/>
                <a:ea typeface="Inter" panose="02000503000000020004" pitchFamily="34" charset="-122"/>
                <a:cs typeface="Inter" panose="02000503000000020004" pitchFamily="34" charset="-120"/>
              </a:rPr>
              <a:t>Keeps the recruiter in control at every critical step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89855"/>
            <a:ext cx="3124572" cy="332259"/>
          </a:xfrm>
          <a:prstGeom prst="rect">
            <a:avLst/>
          </a:prstGeom>
          <a:noFill/>
        </p:spPr>
        <p:txBody>
          <a:bodyPr wrap="none" lIns="0" tIns="0" rIns="0" bIns="0" rtlCol="0" anchor="t"/>
          <a:lstStyle/>
          <a:p>
            <a:pPr marL="0" indent="0" algn="l">
              <a:lnSpc>
                <a:spcPct val="104000"/>
              </a:lnSpc>
              <a:buNone/>
            </a:pPr>
            <a:r>
              <a:rPr lang="en-US" sz="20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System Architecture</a:t>
            </a:r>
            <a:endParaRPr lang="en-US" sz="2050" dirty="0"/>
          </a:p>
        </p:txBody>
      </p:sp>
      <p:pic>
        <p:nvPicPr>
          <p:cNvPr id="3" name="Image 0" descr="preencoded.png"/>
          <p:cNvPicPr>
            <a:picLocks noChangeAspect="1"/>
          </p:cNvPicPr>
          <p:nvPr/>
        </p:nvPicPr>
        <p:blipFill>
          <a:blip r:embed="rId1"/>
          <a:stretch>
            <a:fillRect/>
          </a:stretch>
        </p:blipFill>
        <p:spPr>
          <a:xfrm>
            <a:off x="529679" y="881583"/>
            <a:ext cx="8084567" cy="3486224"/>
          </a:xfrm>
          <a:prstGeom prst="rect">
            <a:avLst/>
          </a:prstGeom>
        </p:spPr>
      </p:pic>
      <p:sp>
        <p:nvSpPr>
          <p:cNvPr id="4" name="Text 1"/>
          <p:cNvSpPr/>
          <p:nvPr/>
        </p:nvSpPr>
        <p:spPr>
          <a:xfrm>
            <a:off x="1073714" y="3706689"/>
            <a:ext cx="1862759" cy="229263"/>
          </a:xfrm>
          <a:prstGeom prst="rect">
            <a:avLst/>
          </a:prstGeom>
          <a:noFill/>
        </p:spPr>
        <p:txBody>
          <a:bodyPr wrap="none" lIns="0" tIns="0" rIns="0" bIns="0" rtlCol="0" anchor="t"/>
          <a:lstStyle/>
          <a:p>
            <a:pPr marL="0" indent="0" algn="l">
              <a:lnSpc>
                <a:spcPct val="104000"/>
              </a:lnSpc>
              <a:buNone/>
            </a:pPr>
            <a:r>
              <a:rPr lang="en-US" sz="1400" b="1" dirty="0">
                <a:solidFill>
                  <a:srgbClr val="FFFFFF"/>
                </a:solidFill>
                <a:latin typeface="Inter Bold" panose="02000503000000020004" pitchFamily="34" charset="0"/>
                <a:ea typeface="Inter Bold" panose="02000503000000020004" pitchFamily="34" charset="-122"/>
                <a:cs typeface="Inter Bold" panose="02000503000000020004" pitchFamily="34" charset="-120"/>
              </a:rPr>
              <a:t>Human Confirmation</a:t>
            </a:r>
            <a:endParaRPr lang="en-US" sz="1400" dirty="0"/>
          </a:p>
        </p:txBody>
      </p:sp>
      <p:sp>
        <p:nvSpPr>
          <p:cNvPr id="5" name="Text 2"/>
          <p:cNvSpPr/>
          <p:nvPr/>
        </p:nvSpPr>
        <p:spPr>
          <a:xfrm>
            <a:off x="1073714" y="2899685"/>
            <a:ext cx="1834102" cy="229263"/>
          </a:xfrm>
          <a:prstGeom prst="rect">
            <a:avLst/>
          </a:prstGeom>
          <a:noFill/>
        </p:spPr>
        <p:txBody>
          <a:bodyPr wrap="none" lIns="0" tIns="0" rIns="0" bIns="0" rtlCol="0" anchor="t"/>
          <a:lstStyle/>
          <a:p>
            <a:pPr marL="0" indent="0" algn="l">
              <a:lnSpc>
                <a:spcPct val="104000"/>
              </a:lnSpc>
              <a:buNone/>
            </a:pPr>
            <a:r>
              <a:rPr lang="en-US" sz="1400" b="1" dirty="0">
                <a:solidFill>
                  <a:srgbClr val="FFFFFF"/>
                </a:solidFill>
                <a:latin typeface="Inter Bold" panose="02000503000000020004" pitchFamily="34" charset="0"/>
                <a:ea typeface="Inter Bold" panose="02000503000000020004" pitchFamily="34" charset="-122"/>
                <a:cs typeface="Inter Bold" panose="02000503000000020004" pitchFamily="34" charset="-120"/>
              </a:rPr>
              <a:t>ChromaDB &amp; Gemini</a:t>
            </a:r>
            <a:endParaRPr lang="en-US" sz="1400" dirty="0"/>
          </a:p>
        </p:txBody>
      </p:sp>
      <p:sp>
        <p:nvSpPr>
          <p:cNvPr id="6" name="Text 3"/>
          <p:cNvSpPr/>
          <p:nvPr/>
        </p:nvSpPr>
        <p:spPr>
          <a:xfrm>
            <a:off x="1073714" y="2100832"/>
            <a:ext cx="1834102" cy="229263"/>
          </a:xfrm>
          <a:prstGeom prst="rect">
            <a:avLst/>
          </a:prstGeom>
          <a:noFill/>
        </p:spPr>
        <p:txBody>
          <a:bodyPr wrap="none" lIns="0" tIns="0" rIns="0" bIns="0" rtlCol="0" anchor="t"/>
          <a:lstStyle/>
          <a:p>
            <a:pPr marL="0" indent="0" algn="l">
              <a:lnSpc>
                <a:spcPct val="104000"/>
              </a:lnSpc>
              <a:buNone/>
            </a:pPr>
            <a:r>
              <a:rPr lang="en-US" sz="1400" b="1" dirty="0">
                <a:solidFill>
                  <a:srgbClr val="FFFFFF"/>
                </a:solidFill>
                <a:latin typeface="Inter Bold" panose="02000503000000020004" pitchFamily="34" charset="0"/>
                <a:ea typeface="Inter Bold" panose="02000503000000020004" pitchFamily="34" charset="-122"/>
                <a:cs typeface="Inter Bold" panose="02000503000000020004" pitchFamily="34" charset="-120"/>
              </a:rPr>
              <a:t>LangGraph Nodes</a:t>
            </a:r>
            <a:endParaRPr lang="en-US" sz="1400" dirty="0"/>
          </a:p>
        </p:txBody>
      </p:sp>
      <p:sp>
        <p:nvSpPr>
          <p:cNvPr id="7" name="Text 4"/>
          <p:cNvSpPr/>
          <p:nvPr/>
        </p:nvSpPr>
        <p:spPr>
          <a:xfrm>
            <a:off x="1073714" y="1293827"/>
            <a:ext cx="1834102" cy="229263"/>
          </a:xfrm>
          <a:prstGeom prst="rect">
            <a:avLst/>
          </a:prstGeom>
          <a:noFill/>
        </p:spPr>
        <p:txBody>
          <a:bodyPr wrap="none" lIns="0" tIns="0" rIns="0" bIns="0" rtlCol="0" anchor="t"/>
          <a:lstStyle/>
          <a:p>
            <a:pPr marL="0" indent="0" algn="l">
              <a:lnSpc>
                <a:spcPct val="104000"/>
              </a:lnSpc>
              <a:buNone/>
            </a:pPr>
            <a:r>
              <a:rPr lang="en-US" sz="1400" b="1" dirty="0">
                <a:solidFill>
                  <a:srgbClr val="FFFFFF"/>
                </a:solidFill>
                <a:latin typeface="Inter Bold" panose="02000503000000020004" pitchFamily="34" charset="0"/>
                <a:ea typeface="Inter Bold" panose="02000503000000020004" pitchFamily="34" charset="-122"/>
                <a:cs typeface="Inter Bold" panose="02000503000000020004" pitchFamily="34" charset="-120"/>
              </a:rPr>
              <a:t>Intent Router</a:t>
            </a:r>
            <a:endParaRPr lang="en-US" sz="1400" dirty="0"/>
          </a:p>
        </p:txBody>
      </p:sp>
      <p:sp>
        <p:nvSpPr>
          <p:cNvPr id="8" name="Text 5"/>
          <p:cNvSpPr/>
          <p:nvPr/>
        </p:nvSpPr>
        <p:spPr>
          <a:xfrm>
            <a:off x="496119" y="4457477"/>
            <a:ext cx="8151763" cy="297656"/>
          </a:xfrm>
          <a:prstGeom prst="rect">
            <a:avLst/>
          </a:prstGeom>
          <a:noFill/>
        </p:spPr>
        <p:txBody>
          <a:bodyPr wrap="square" lIns="0" tIns="0" rIns="0" bIns="0" rtlCol="0" anchor="t">
            <a:normAutofit/>
          </a:bodyPr>
          <a:lstStyle/>
          <a:p>
            <a:pPr marL="0" indent="0" algn="l">
              <a:lnSpc>
                <a:spcPct val="117000"/>
              </a:lnSpc>
              <a:buNone/>
            </a:pPr>
            <a:r>
              <a:rPr lang="en-US" sz="800" dirty="0">
                <a:solidFill>
                  <a:srgbClr val="272525"/>
                </a:solidFill>
                <a:latin typeface="Inter" panose="02000503000000020004" pitchFamily="34" charset="0"/>
                <a:ea typeface="Inter" panose="02000503000000020004" pitchFamily="34" charset="-122"/>
                <a:cs typeface="Inter" panose="02000503000000020004" pitchFamily="34" charset="-120"/>
              </a:rPr>
              <a:t>Every user query is routed through an intent classifier that activates the appropriate LangGraph node. Nodes retrieve semantically relevant context from ChromaDB, generate responses via Gemini, and require explicit human sign-off before any consequential action is taken.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48208"/>
            <a:ext cx="4823892" cy="442987"/>
          </a:xfrm>
          <a:prstGeom prst="rect">
            <a:avLst/>
          </a:prstGeom>
          <a:noFill/>
        </p:spPr>
        <p:txBody>
          <a:bodyPr wrap="none" lIns="0" tIns="0" rIns="0" bIns="0" rtlCol="0" anchor="t"/>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JD &amp; Resume Intelligence</a:t>
            </a:r>
            <a:endParaRPr lang="en-US" sz="275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274713"/>
            <a:ext cx="354360" cy="354360"/>
          </a:xfrm>
          <a:prstGeom prst="rect">
            <a:avLst/>
          </a:prstGeom>
        </p:spPr>
      </p:pic>
      <p:sp>
        <p:nvSpPr>
          <p:cNvPr id="4" name="Text 1"/>
          <p:cNvSpPr/>
          <p:nvPr/>
        </p:nvSpPr>
        <p:spPr>
          <a:xfrm>
            <a:off x="496119" y="1806253"/>
            <a:ext cx="1899568"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Structured JD Parsing</a:t>
            </a:r>
            <a:endParaRPr lang="en-US" sz="1350" dirty="0"/>
          </a:p>
        </p:txBody>
      </p:sp>
      <p:sp>
        <p:nvSpPr>
          <p:cNvPr id="5" name="Text 2"/>
          <p:cNvSpPr/>
          <p:nvPr/>
        </p:nvSpPr>
        <p:spPr>
          <a:xfrm>
            <a:off x="496119" y="2112764"/>
            <a:ext cx="3987254" cy="680442"/>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Job descriptions are parsed into typed Pydantic fields — role, skills, requirements — enabling downstream logic to operate on structured data.</a:t>
            </a:r>
            <a:endParaRPr lang="en-US" sz="110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4660553" y="1274713"/>
            <a:ext cx="354360" cy="354360"/>
          </a:xfrm>
          <a:prstGeom prst="rect">
            <a:avLst/>
          </a:prstGeom>
        </p:spPr>
      </p:pic>
      <p:sp>
        <p:nvSpPr>
          <p:cNvPr id="7" name="Text 3"/>
          <p:cNvSpPr/>
          <p:nvPr/>
        </p:nvSpPr>
        <p:spPr>
          <a:xfrm>
            <a:off x="4660553" y="1806253"/>
            <a:ext cx="2033513"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RAG Resume Screening</a:t>
            </a:r>
            <a:endParaRPr lang="en-US" sz="1350" dirty="0"/>
          </a:p>
        </p:txBody>
      </p:sp>
      <p:sp>
        <p:nvSpPr>
          <p:cNvPr id="8" name="Text 4"/>
          <p:cNvSpPr/>
          <p:nvPr/>
        </p:nvSpPr>
        <p:spPr>
          <a:xfrm>
            <a:off x="4660553" y="2112764"/>
            <a:ext cx="3987329" cy="680442"/>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ChromaDB powers semantic search across 15 candidate resumes, returning ranked match scores grounded in the JD.</a:t>
            </a:r>
            <a:endParaRPr lang="en-US" sz="1100" dirty="0"/>
          </a:p>
        </p:txBody>
      </p:sp>
      <p:pic>
        <p:nvPicPr>
          <p:cNvPr id="9"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496119" y="3076724"/>
            <a:ext cx="354360" cy="354360"/>
          </a:xfrm>
          <a:prstGeom prst="rect">
            <a:avLst/>
          </a:prstGeom>
        </p:spPr>
      </p:pic>
      <p:sp>
        <p:nvSpPr>
          <p:cNvPr id="10" name="Text 5"/>
          <p:cNvSpPr/>
          <p:nvPr/>
        </p:nvSpPr>
        <p:spPr>
          <a:xfrm>
            <a:off x="496119" y="3608263"/>
            <a:ext cx="1772022"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Zero-LLM Fast Path</a:t>
            </a:r>
            <a:endParaRPr lang="en-US" sz="1350" dirty="0"/>
          </a:p>
        </p:txBody>
      </p:sp>
      <p:sp>
        <p:nvSpPr>
          <p:cNvPr id="11" name="Text 6"/>
          <p:cNvSpPr/>
          <p:nvPr/>
        </p:nvSpPr>
        <p:spPr>
          <a:xfrm>
            <a:off x="496119" y="3914775"/>
            <a:ext cx="3987254" cy="453628"/>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Simple counting queries like "how many applicants?" bypass the LLM entirely — instant answers, zero API cost.</a:t>
            </a:r>
            <a:endParaRPr lang="en-US" sz="1100" dirty="0"/>
          </a:p>
        </p:txBody>
      </p:sp>
      <p:pic>
        <p:nvPicPr>
          <p:cNvPr id="12"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4660553" y="3076724"/>
            <a:ext cx="354360" cy="354360"/>
          </a:xfrm>
          <a:prstGeom prst="rect">
            <a:avLst/>
          </a:prstGeom>
        </p:spPr>
      </p:pic>
      <p:sp>
        <p:nvSpPr>
          <p:cNvPr id="13" name="Text 7"/>
          <p:cNvSpPr/>
          <p:nvPr/>
        </p:nvSpPr>
        <p:spPr>
          <a:xfrm>
            <a:off x="4660553" y="3608263"/>
            <a:ext cx="1772022"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Recruiter Copilot</a:t>
            </a:r>
            <a:endParaRPr lang="en-US" sz="1350" dirty="0"/>
          </a:p>
        </p:txBody>
      </p:sp>
      <p:sp>
        <p:nvSpPr>
          <p:cNvPr id="14" name="Text 8"/>
          <p:cNvSpPr/>
          <p:nvPr/>
        </p:nvSpPr>
        <p:spPr>
          <a:xfrm>
            <a:off x="4660553" y="3914775"/>
            <a:ext cx="3987329" cy="680442"/>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Rewrites JDs by tone, auto-generates interview questions, compares candidates side-by-side, and flags JD-to-pool mismatches.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912316"/>
            <a:ext cx="4722763" cy="885974"/>
          </a:xfrm>
          <a:prstGeom prst="rect">
            <a:avLst/>
          </a:prstGeom>
          <a:noFill/>
        </p:spPr>
        <p:txBody>
          <a:bodyPr wrap="square" lIns="0" tIns="0" rIns="0" bIns="0" rtlCol="0" anchor="t">
            <a:normAutofit/>
          </a:bodyPr>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Live Web-Grounded Features</a:t>
            </a:r>
            <a:endParaRPr lang="en-US" sz="2750" dirty="0"/>
          </a:p>
        </p:txBody>
      </p:sp>
      <p:sp>
        <p:nvSpPr>
          <p:cNvPr id="4" name="Text 1"/>
          <p:cNvSpPr/>
          <p:nvPr/>
        </p:nvSpPr>
        <p:spPr>
          <a:xfrm>
            <a:off x="496119" y="2152650"/>
            <a:ext cx="2309961"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Salary Benchmarking</a:t>
            </a:r>
            <a:endParaRPr lang="en-US" sz="1350" dirty="0"/>
          </a:p>
        </p:txBody>
      </p:sp>
      <p:sp>
        <p:nvSpPr>
          <p:cNvPr id="5" name="Text 2"/>
          <p:cNvSpPr/>
          <p:nvPr/>
        </p:nvSpPr>
        <p:spPr>
          <a:xfrm>
            <a:off x="496119" y="2515865"/>
            <a:ext cx="2188443" cy="1360884"/>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Real-time salary data is retrieved via </a:t>
            </a:r>
            <a:r>
              <a:rPr lang="en-US" sz="110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Tavily live web search</a:t>
            </a: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 — not from a static RAG index — ensuring benchmarks reflect current market conditions.</a:t>
            </a:r>
            <a:endParaRPr lang="en-US" sz="1100" dirty="0"/>
          </a:p>
        </p:txBody>
      </p:sp>
      <p:sp>
        <p:nvSpPr>
          <p:cNvPr id="6" name="Text 3"/>
          <p:cNvSpPr/>
          <p:nvPr/>
        </p:nvSpPr>
        <p:spPr>
          <a:xfrm>
            <a:off x="3035201" y="2152650"/>
            <a:ext cx="2229222"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Skill Trend Analysis</a:t>
            </a:r>
            <a:endParaRPr lang="en-US" sz="1350" dirty="0"/>
          </a:p>
        </p:txBody>
      </p:sp>
      <p:sp>
        <p:nvSpPr>
          <p:cNvPr id="7" name="Text 4"/>
          <p:cNvSpPr/>
          <p:nvPr/>
        </p:nvSpPr>
        <p:spPr>
          <a:xfrm>
            <a:off x="3035201" y="2515865"/>
            <a:ext cx="2188443" cy="1587698"/>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Emerging skill demands are surfaced through live queries. When no API key is present, an </a:t>
            </a:r>
            <a:r>
              <a:rPr lang="en-US" sz="110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automatic local-cache fallback</a:t>
            </a: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 ensures the feature degrades gracefully rather than failing silently.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93576"/>
            <a:ext cx="2873499" cy="228451"/>
          </a:xfrm>
          <a:prstGeom prst="rect">
            <a:avLst/>
          </a:prstGeom>
          <a:noFill/>
        </p:spPr>
        <p:txBody>
          <a:bodyPr wrap="none" lIns="0" tIns="0" rIns="0" bIns="0" rtlCol="0" anchor="t"/>
          <a:lstStyle/>
          <a:p>
            <a:pPr marL="0" indent="0" algn="l">
              <a:lnSpc>
                <a:spcPct val="104000"/>
              </a:lnSpc>
              <a:buNone/>
            </a:pPr>
            <a:r>
              <a:rPr lang="en-US" sz="140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Human-in-the-Loop Safety</a:t>
            </a:r>
            <a:endParaRPr lang="en-US" sz="1400" dirty="0"/>
          </a:p>
        </p:txBody>
      </p:sp>
      <p:pic>
        <p:nvPicPr>
          <p:cNvPr id="3" name="Image 0" descr="preencoded.png"/>
          <p:cNvPicPr>
            <a:picLocks noChangeAspect="1"/>
          </p:cNvPicPr>
          <p:nvPr/>
        </p:nvPicPr>
        <p:blipFill>
          <a:blip r:embed="rId1"/>
          <a:stretch>
            <a:fillRect/>
          </a:stretch>
        </p:blipFill>
        <p:spPr>
          <a:xfrm>
            <a:off x="496119" y="720849"/>
            <a:ext cx="3986733" cy="3986733"/>
          </a:xfrm>
          <a:prstGeom prst="rect">
            <a:avLst/>
          </a:prstGeom>
        </p:spPr>
      </p:pic>
      <p:sp>
        <p:nvSpPr>
          <p:cNvPr id="4" name="Text 1"/>
          <p:cNvSpPr/>
          <p:nvPr/>
        </p:nvSpPr>
        <p:spPr>
          <a:xfrm>
            <a:off x="4739005" y="1496060"/>
            <a:ext cx="1912620" cy="309245"/>
          </a:xfrm>
          <a:prstGeom prst="rect">
            <a:avLst/>
          </a:prstGeom>
          <a:noFill/>
        </p:spPr>
        <p:txBody>
          <a:bodyPr wrap="none" lIns="0" tIns="0" rIns="0" bIns="0" rtlCol="0" anchor="t"/>
          <a:lstStyle/>
          <a:p>
            <a:pPr marL="0" indent="0" algn="l">
              <a:lnSpc>
                <a:spcPct val="104000"/>
              </a:lnSpc>
              <a:buNone/>
            </a:pPr>
            <a:r>
              <a:rPr lang="en-US" sz="900"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Explicit Confirmation Required</a:t>
            </a:r>
            <a:endParaRPr lang="en-US" sz="900" dirty="0">
              <a:solidFill>
                <a:srgbClr val="000000"/>
              </a:solidFill>
              <a:latin typeface="Inter Bold" panose="02000503000000020004" pitchFamily="34" charset="0"/>
              <a:ea typeface="Inter Bold" panose="02000503000000020004" pitchFamily="34" charset="-122"/>
              <a:cs typeface="Inter Bold" panose="02000503000000020004" pitchFamily="34" charset="-120"/>
            </a:endParaRPr>
          </a:p>
        </p:txBody>
      </p:sp>
      <p:sp>
        <p:nvSpPr>
          <p:cNvPr id="5" name="Text 2"/>
          <p:cNvSpPr/>
          <p:nvPr/>
        </p:nvSpPr>
        <p:spPr>
          <a:xfrm>
            <a:off x="4739005" y="1805305"/>
            <a:ext cx="4073525" cy="766445"/>
          </a:xfrm>
          <a:prstGeom prst="rect">
            <a:avLst/>
          </a:prstGeom>
          <a:noFill/>
        </p:spPr>
        <p:txBody>
          <a:bodyPr wrap="square" lIns="0" tIns="0" rIns="0" bIns="0" rtlCol="0" anchor="t">
            <a:normAutofit/>
          </a:bodyPr>
          <a:lstStyle/>
          <a:p>
            <a:pPr marL="0" indent="0" algn="l">
              <a:lnSpc>
                <a:spcPct val="101000"/>
              </a:lnSpc>
              <a:buNone/>
            </a:pP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Every consequential action — finalizing a candidate shortlist or booking an interview slot — is </a:t>
            </a:r>
            <a:r>
              <a:rPr lang="en-US" sz="9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gated behind an explicit yes/no prompt</a:t>
            </a: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a:t>
            </a:r>
            <a:endParaRPr lang="en-US" sz="950" dirty="0"/>
          </a:p>
          <a:p>
            <a:pPr marL="0" indent="0" algn="l">
              <a:lnSpc>
                <a:spcPct val="101000"/>
              </a:lnSpc>
              <a:buNone/>
            </a:pPr>
            <a:r>
              <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rPr>
              <a:t>No action is ever executed silently or assumed. The recruiter remains the final authority at every decision point.</a:t>
            </a:r>
            <a:endParaRPr lang="en-US" sz="950" dirty="0">
              <a:solidFill>
                <a:srgbClr val="272525"/>
              </a:solidFill>
              <a:latin typeface="Inter" panose="02000503000000020004" pitchFamily="34" charset="0"/>
              <a:ea typeface="Inter" panose="02000503000000020004" pitchFamily="34" charset="-122"/>
              <a:cs typeface="Inter" panose="02000503000000020004" pitchFamily="34" charset="-120"/>
            </a:endParaRPr>
          </a:p>
        </p:txBody>
      </p:sp>
      <p:sp>
        <p:nvSpPr>
          <p:cNvPr id="6" name="Shape 3"/>
          <p:cNvSpPr/>
          <p:nvPr/>
        </p:nvSpPr>
        <p:spPr>
          <a:xfrm>
            <a:off x="4665911" y="2859658"/>
            <a:ext cx="3986733" cy="198090"/>
          </a:xfrm>
          <a:prstGeom prst="roundRect">
            <a:avLst>
              <a:gd name="adj" fmla="val 15499"/>
            </a:avLst>
          </a:prstGeom>
          <a:solidFill>
            <a:srgbClr val="DADBF1"/>
          </a:solidFill>
        </p:spPr>
      </p:sp>
      <p:pic>
        <p:nvPicPr>
          <p:cNvPr id="7" name="Image 1" descr="preencoded.png"/>
          <p:cNvPicPr>
            <a:picLocks noChangeAspect="1"/>
          </p:cNvPicPr>
          <p:nvPr/>
        </p:nvPicPr>
        <p:blipFill>
          <a:blip r:embed="rId2"/>
          <a:stretch>
            <a:fillRect/>
          </a:stretch>
        </p:blipFill>
        <p:spPr>
          <a:xfrm>
            <a:off x="4738985" y="2953643"/>
            <a:ext cx="91306" cy="73075"/>
          </a:xfrm>
          <a:prstGeom prst="rect">
            <a:avLst/>
          </a:prstGeom>
        </p:spPr>
      </p:pic>
      <p:sp>
        <p:nvSpPr>
          <p:cNvPr id="8" name="Text 4"/>
          <p:cNvSpPr/>
          <p:nvPr/>
        </p:nvSpPr>
        <p:spPr>
          <a:xfrm>
            <a:off x="4903470" y="2911475"/>
            <a:ext cx="2915920" cy="146050"/>
          </a:xfrm>
          <a:prstGeom prst="rect">
            <a:avLst/>
          </a:prstGeom>
          <a:noFill/>
        </p:spPr>
        <p:txBody>
          <a:bodyPr wrap="none" lIns="0" tIns="0" rIns="0" bIns="0" rtlCol="0" anchor="t"/>
          <a:lstStyle/>
          <a:p>
            <a:pPr marL="0" indent="0" algn="l">
              <a:lnSpc>
                <a:spcPct val="101000"/>
              </a:lnSpc>
              <a:buNone/>
            </a:pPr>
            <a:r>
              <a:rPr lang="en-US" sz="750" dirty="0">
                <a:solidFill>
                  <a:srgbClr val="000000"/>
                </a:solidFill>
                <a:latin typeface="Inter" panose="02000503000000020004" pitchFamily="34" charset="0"/>
                <a:ea typeface="Inter" panose="02000503000000020004" pitchFamily="34" charset="-122"/>
                <a:cs typeface="Inter" panose="02000503000000020004" pitchFamily="34" charset="-120"/>
              </a:rPr>
              <a:t>Trust is built through transparency. HireGraph AI is a copilot, not an autopilot.</a:t>
            </a:r>
            <a:endParaRPr lang="en-US" sz="750" dirty="0">
              <a:solidFill>
                <a:srgbClr val="000000"/>
              </a:solidFill>
              <a:latin typeface="Inter" panose="02000503000000020004" pitchFamily="34" charset="0"/>
              <a:ea typeface="Inter" panose="02000503000000020004" pitchFamily="34" charset="-122"/>
              <a:cs typeface="Inter" panose="020005030000000200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103263"/>
            <a:ext cx="6775847" cy="442987"/>
          </a:xfrm>
          <a:prstGeom prst="rect">
            <a:avLst/>
          </a:prstGeom>
          <a:noFill/>
        </p:spPr>
        <p:txBody>
          <a:bodyPr wrap="none" lIns="0" tIns="0" rIns="0" bIns="0" rtlCol="0" anchor="t"/>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Moonshot Features &amp; Smart Caching</a:t>
            </a:r>
            <a:endParaRPr lang="en-US" sz="275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829767"/>
            <a:ext cx="2622724" cy="2210470"/>
          </a:xfrm>
          <a:prstGeom prst="rect">
            <a:avLst/>
          </a:prstGeom>
        </p:spPr>
      </p:pic>
      <p:sp>
        <p:nvSpPr>
          <p:cNvPr id="4" name="Text 1"/>
          <p:cNvSpPr/>
          <p:nvPr/>
        </p:nvSpPr>
        <p:spPr>
          <a:xfrm>
            <a:off x="733127" y="1990576"/>
            <a:ext cx="1923231"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Red-Flag Detection</a:t>
            </a:r>
            <a:endParaRPr lang="en-US" sz="1350" dirty="0"/>
          </a:p>
        </p:txBody>
      </p:sp>
      <p:sp>
        <p:nvSpPr>
          <p:cNvPr id="5" name="Text 2"/>
          <p:cNvSpPr/>
          <p:nvPr/>
        </p:nvSpPr>
        <p:spPr>
          <a:xfrm>
            <a:off x="733127" y="2297088"/>
            <a:ext cx="2224906" cy="1360884"/>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Dependency-free analysis automatically surfaces employment gaps, experience mismatches, and qualification concerns — no additional LLM call required.</a:t>
            </a:r>
            <a:endParaRPr lang="en-US" sz="110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60601" y="1829767"/>
            <a:ext cx="2622724" cy="2210470"/>
          </a:xfrm>
          <a:prstGeom prst="rect">
            <a:avLst/>
          </a:prstGeom>
        </p:spPr>
      </p:pic>
      <p:sp>
        <p:nvSpPr>
          <p:cNvPr id="7" name="Text 3"/>
          <p:cNvSpPr/>
          <p:nvPr/>
        </p:nvSpPr>
        <p:spPr>
          <a:xfrm>
            <a:off x="3497610" y="1990576"/>
            <a:ext cx="2224906" cy="442913"/>
          </a:xfrm>
          <a:prstGeom prst="rect">
            <a:avLst/>
          </a:prstGeom>
          <a:noFill/>
        </p:spPr>
        <p:txBody>
          <a:bodyPr wrap="square" lIns="0" tIns="0" rIns="0" bIns="0" rtlCol="0" anchor="t">
            <a:normAutofit/>
          </a:bodyPr>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Batch Screening Report</a:t>
            </a:r>
            <a:endParaRPr lang="en-US" sz="1350" dirty="0"/>
          </a:p>
        </p:txBody>
      </p:sp>
      <p:sp>
        <p:nvSpPr>
          <p:cNvPr id="8" name="Text 4"/>
          <p:cNvSpPr/>
          <p:nvPr/>
        </p:nvSpPr>
        <p:spPr>
          <a:xfrm>
            <a:off x="3497610" y="2518544"/>
            <a:ext cx="2224906" cy="1134070"/>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A single command generates a comprehensive screening report across all candidates in the pool, with match scores and flags compiled in one pass.</a:t>
            </a:r>
            <a:endParaRPr lang="en-US" sz="1100" dirty="0"/>
          </a:p>
        </p:txBody>
      </p:sp>
      <p:pic>
        <p:nvPicPr>
          <p:cNvPr id="9"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25083" y="1829767"/>
            <a:ext cx="2622724" cy="2210470"/>
          </a:xfrm>
          <a:prstGeom prst="rect">
            <a:avLst/>
          </a:prstGeom>
        </p:spPr>
      </p:pic>
      <p:sp>
        <p:nvSpPr>
          <p:cNvPr id="10" name="Text 5"/>
          <p:cNvSpPr/>
          <p:nvPr/>
        </p:nvSpPr>
        <p:spPr>
          <a:xfrm>
            <a:off x="6262092" y="1990576"/>
            <a:ext cx="2224906" cy="442913"/>
          </a:xfrm>
          <a:prstGeom prst="rect">
            <a:avLst/>
          </a:prstGeom>
          <a:noFill/>
        </p:spPr>
        <p:txBody>
          <a:bodyPr wrap="square" lIns="0" tIns="0" rIns="0" bIns="0" rtlCol="0" anchor="t">
            <a:normAutofit/>
          </a:bodyPr>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Resume Parsing Cache</a:t>
            </a:r>
            <a:endParaRPr lang="en-US" sz="1350" dirty="0"/>
          </a:p>
        </p:txBody>
      </p:sp>
      <p:sp>
        <p:nvSpPr>
          <p:cNvPr id="11" name="Text 6"/>
          <p:cNvSpPr/>
          <p:nvPr/>
        </p:nvSpPr>
        <p:spPr>
          <a:xfrm>
            <a:off x="6262092" y="2518544"/>
            <a:ext cx="2224906" cy="1360884"/>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Pre-generated parsed resume data is cached to disk, eliminating redundant LLM calls across sessions — directly reducing API cost and response latency.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04676"/>
            <a:ext cx="4001319" cy="442987"/>
          </a:xfrm>
          <a:prstGeom prst="rect">
            <a:avLst/>
          </a:prstGeom>
          <a:noFill/>
        </p:spPr>
        <p:txBody>
          <a:bodyPr wrap="none" lIns="0" tIns="0" rIns="0" bIns="0" rtlCol="0" anchor="t"/>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Tech Stack &amp; Demo</a:t>
            </a:r>
            <a:endParaRPr lang="en-US" sz="2750" dirty="0"/>
          </a:p>
        </p:txBody>
      </p:sp>
      <p:sp>
        <p:nvSpPr>
          <p:cNvPr id="3" name="Shape 1"/>
          <p:cNvSpPr/>
          <p:nvPr/>
        </p:nvSpPr>
        <p:spPr>
          <a:xfrm>
            <a:off x="496119" y="1319733"/>
            <a:ext cx="1880592" cy="1109886"/>
          </a:xfrm>
          <a:prstGeom prst="roundRect">
            <a:avLst>
              <a:gd name="adj" fmla="val 5365"/>
            </a:avLst>
          </a:prstGeom>
          <a:solidFill>
            <a:srgbClr val="DADBF1"/>
          </a:solidFill>
          <a:ln w="4763">
            <a:solidFill>
              <a:srgbClr val="C0C1D7"/>
            </a:solidFill>
            <a:prstDash val="solid"/>
          </a:ln>
        </p:spPr>
      </p:sp>
      <p:sp>
        <p:nvSpPr>
          <p:cNvPr id="4" name="Text 2"/>
          <p:cNvSpPr/>
          <p:nvPr/>
        </p:nvSpPr>
        <p:spPr>
          <a:xfrm>
            <a:off x="642640" y="1466255"/>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Python</a:t>
            </a:r>
            <a:endParaRPr lang="en-US" sz="1350" dirty="0"/>
          </a:p>
        </p:txBody>
      </p:sp>
      <p:sp>
        <p:nvSpPr>
          <p:cNvPr id="5" name="Text 3"/>
          <p:cNvSpPr/>
          <p:nvPr/>
        </p:nvSpPr>
        <p:spPr>
          <a:xfrm>
            <a:off x="642640" y="1829470"/>
            <a:ext cx="1587550" cy="226814"/>
          </a:xfrm>
          <a:prstGeom prst="rect">
            <a:avLst/>
          </a:prstGeom>
          <a:noFill/>
        </p:spPr>
        <p:txBody>
          <a:bodyPr wrap="none" lIns="0" tIns="0" rIns="0" bIns="0" rtlCol="0" anchor="t"/>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Core runtime</a:t>
            </a:r>
            <a:endParaRPr lang="en-US" sz="1100" dirty="0"/>
          </a:p>
        </p:txBody>
      </p:sp>
      <p:sp>
        <p:nvSpPr>
          <p:cNvPr id="6" name="Shape 4"/>
          <p:cNvSpPr/>
          <p:nvPr/>
        </p:nvSpPr>
        <p:spPr>
          <a:xfrm>
            <a:off x="2518470" y="1319733"/>
            <a:ext cx="1880592" cy="1109886"/>
          </a:xfrm>
          <a:prstGeom prst="roundRect">
            <a:avLst>
              <a:gd name="adj" fmla="val 5365"/>
            </a:avLst>
          </a:prstGeom>
          <a:solidFill>
            <a:srgbClr val="DADBF1"/>
          </a:solidFill>
          <a:ln w="4763">
            <a:solidFill>
              <a:srgbClr val="C0C1D7"/>
            </a:solidFill>
            <a:prstDash val="solid"/>
          </a:ln>
        </p:spPr>
      </p:sp>
      <p:sp>
        <p:nvSpPr>
          <p:cNvPr id="7" name="Text 5"/>
          <p:cNvSpPr/>
          <p:nvPr/>
        </p:nvSpPr>
        <p:spPr>
          <a:xfrm>
            <a:off x="2664991" y="1466255"/>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LangGraph</a:t>
            </a:r>
            <a:endParaRPr lang="en-US" sz="1350" dirty="0"/>
          </a:p>
        </p:txBody>
      </p:sp>
      <p:sp>
        <p:nvSpPr>
          <p:cNvPr id="8" name="Text 6"/>
          <p:cNvSpPr/>
          <p:nvPr/>
        </p:nvSpPr>
        <p:spPr>
          <a:xfrm>
            <a:off x="2664991" y="1829470"/>
            <a:ext cx="1587550" cy="453628"/>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State machine orchestration</a:t>
            </a:r>
            <a:endParaRPr lang="en-US" sz="1100" dirty="0"/>
          </a:p>
        </p:txBody>
      </p:sp>
      <p:sp>
        <p:nvSpPr>
          <p:cNvPr id="9" name="Shape 7"/>
          <p:cNvSpPr/>
          <p:nvPr/>
        </p:nvSpPr>
        <p:spPr>
          <a:xfrm>
            <a:off x="496119" y="2571378"/>
            <a:ext cx="1880592" cy="883072"/>
          </a:xfrm>
          <a:prstGeom prst="roundRect">
            <a:avLst>
              <a:gd name="adj" fmla="val 6743"/>
            </a:avLst>
          </a:prstGeom>
          <a:solidFill>
            <a:srgbClr val="DADBF1"/>
          </a:solidFill>
          <a:ln w="4763">
            <a:solidFill>
              <a:srgbClr val="C0C1D7"/>
            </a:solidFill>
            <a:prstDash val="solid"/>
          </a:ln>
        </p:spPr>
      </p:sp>
      <p:sp>
        <p:nvSpPr>
          <p:cNvPr id="10" name="Text 8"/>
          <p:cNvSpPr/>
          <p:nvPr/>
        </p:nvSpPr>
        <p:spPr>
          <a:xfrm>
            <a:off x="642640" y="2717899"/>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ChromaDB</a:t>
            </a:r>
            <a:endParaRPr lang="en-US" sz="1350" dirty="0"/>
          </a:p>
        </p:txBody>
      </p:sp>
      <p:sp>
        <p:nvSpPr>
          <p:cNvPr id="11" name="Text 9"/>
          <p:cNvSpPr/>
          <p:nvPr/>
        </p:nvSpPr>
        <p:spPr>
          <a:xfrm>
            <a:off x="642640" y="3081114"/>
            <a:ext cx="1587550" cy="226814"/>
          </a:xfrm>
          <a:prstGeom prst="rect">
            <a:avLst/>
          </a:prstGeom>
          <a:noFill/>
        </p:spPr>
        <p:txBody>
          <a:bodyPr wrap="none" lIns="0" tIns="0" rIns="0" bIns="0" rtlCol="0" anchor="t"/>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Vector store &amp; RAG</a:t>
            </a:r>
            <a:endParaRPr lang="en-US" sz="1100" dirty="0"/>
          </a:p>
        </p:txBody>
      </p:sp>
      <p:sp>
        <p:nvSpPr>
          <p:cNvPr id="12" name="Shape 10"/>
          <p:cNvSpPr/>
          <p:nvPr/>
        </p:nvSpPr>
        <p:spPr>
          <a:xfrm>
            <a:off x="2518470" y="2571378"/>
            <a:ext cx="1880592" cy="883072"/>
          </a:xfrm>
          <a:prstGeom prst="roundRect">
            <a:avLst>
              <a:gd name="adj" fmla="val 6743"/>
            </a:avLst>
          </a:prstGeom>
          <a:solidFill>
            <a:srgbClr val="DADBF1"/>
          </a:solidFill>
          <a:ln w="4763">
            <a:solidFill>
              <a:srgbClr val="C0C1D7"/>
            </a:solidFill>
            <a:prstDash val="solid"/>
          </a:ln>
        </p:spPr>
      </p:sp>
      <p:sp>
        <p:nvSpPr>
          <p:cNvPr id="13" name="Text 11"/>
          <p:cNvSpPr/>
          <p:nvPr/>
        </p:nvSpPr>
        <p:spPr>
          <a:xfrm>
            <a:off x="2664991" y="2717899"/>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Gemini</a:t>
            </a:r>
            <a:endParaRPr lang="en-US" sz="1350" dirty="0"/>
          </a:p>
        </p:txBody>
      </p:sp>
      <p:sp>
        <p:nvSpPr>
          <p:cNvPr id="14" name="Text 12"/>
          <p:cNvSpPr/>
          <p:nvPr/>
        </p:nvSpPr>
        <p:spPr>
          <a:xfrm>
            <a:off x="2664991" y="3081114"/>
            <a:ext cx="1587550" cy="226814"/>
          </a:xfrm>
          <a:prstGeom prst="rect">
            <a:avLst/>
          </a:prstGeom>
          <a:noFill/>
        </p:spPr>
        <p:txBody>
          <a:bodyPr wrap="none" lIns="0" tIns="0" rIns="0" bIns="0" rtlCol="0" anchor="t"/>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LLM backbone</a:t>
            </a:r>
            <a:endParaRPr lang="en-US" sz="1100" dirty="0"/>
          </a:p>
        </p:txBody>
      </p:sp>
      <p:sp>
        <p:nvSpPr>
          <p:cNvPr id="15" name="Shape 13"/>
          <p:cNvSpPr/>
          <p:nvPr/>
        </p:nvSpPr>
        <p:spPr>
          <a:xfrm>
            <a:off x="496119" y="3596208"/>
            <a:ext cx="1880592" cy="883072"/>
          </a:xfrm>
          <a:prstGeom prst="roundRect">
            <a:avLst>
              <a:gd name="adj" fmla="val 6743"/>
            </a:avLst>
          </a:prstGeom>
          <a:solidFill>
            <a:srgbClr val="DADBF1"/>
          </a:solidFill>
          <a:ln w="4763">
            <a:solidFill>
              <a:srgbClr val="C0C1D7"/>
            </a:solidFill>
            <a:prstDash val="solid"/>
          </a:ln>
        </p:spPr>
      </p:sp>
      <p:sp>
        <p:nvSpPr>
          <p:cNvPr id="16" name="Text 14"/>
          <p:cNvSpPr/>
          <p:nvPr/>
        </p:nvSpPr>
        <p:spPr>
          <a:xfrm>
            <a:off x="642640" y="3742730"/>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Tavily API</a:t>
            </a:r>
            <a:endParaRPr lang="en-US" sz="1350" dirty="0"/>
          </a:p>
        </p:txBody>
      </p:sp>
      <p:sp>
        <p:nvSpPr>
          <p:cNvPr id="17" name="Text 15"/>
          <p:cNvSpPr/>
          <p:nvPr/>
        </p:nvSpPr>
        <p:spPr>
          <a:xfrm>
            <a:off x="642640" y="4105945"/>
            <a:ext cx="1587550" cy="226814"/>
          </a:xfrm>
          <a:prstGeom prst="rect">
            <a:avLst/>
          </a:prstGeom>
          <a:noFill/>
        </p:spPr>
        <p:txBody>
          <a:bodyPr wrap="none" lIns="0" tIns="0" rIns="0" bIns="0" rtlCol="0" anchor="t"/>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Live web search</a:t>
            </a:r>
            <a:endParaRPr lang="en-US" sz="1100" dirty="0"/>
          </a:p>
        </p:txBody>
      </p:sp>
      <p:sp>
        <p:nvSpPr>
          <p:cNvPr id="18" name="Shape 16"/>
          <p:cNvSpPr/>
          <p:nvPr/>
        </p:nvSpPr>
        <p:spPr>
          <a:xfrm>
            <a:off x="2518470" y="3596208"/>
            <a:ext cx="1880592" cy="883072"/>
          </a:xfrm>
          <a:prstGeom prst="roundRect">
            <a:avLst>
              <a:gd name="adj" fmla="val 6743"/>
            </a:avLst>
          </a:prstGeom>
          <a:solidFill>
            <a:srgbClr val="DADBF1"/>
          </a:solidFill>
          <a:ln w="4763">
            <a:solidFill>
              <a:srgbClr val="C0C1D7"/>
            </a:solidFill>
            <a:prstDash val="solid"/>
          </a:ln>
        </p:spPr>
      </p:sp>
      <p:sp>
        <p:nvSpPr>
          <p:cNvPr id="19" name="Text 17"/>
          <p:cNvSpPr/>
          <p:nvPr/>
        </p:nvSpPr>
        <p:spPr>
          <a:xfrm>
            <a:off x="2664991" y="3742730"/>
            <a:ext cx="1587550" cy="221456"/>
          </a:xfrm>
          <a:prstGeom prst="rect">
            <a:avLst/>
          </a:prstGeom>
          <a:noFill/>
        </p:spPr>
        <p:txBody>
          <a:bodyPr wrap="none" lIns="0" tIns="0" rIns="0" bIns="0" rtlCol="0" anchor="t"/>
          <a:lstStyle/>
          <a:p>
            <a:pPr marL="0" indent="0" algn="l">
              <a:lnSpc>
                <a:spcPct val="104000"/>
              </a:lnSpc>
              <a:buNone/>
            </a:pP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Rich UI</a:t>
            </a:r>
            <a:endParaRPr lang="en-US" sz="1350" dirty="0"/>
          </a:p>
        </p:txBody>
      </p:sp>
      <p:sp>
        <p:nvSpPr>
          <p:cNvPr id="20" name="Text 18"/>
          <p:cNvSpPr/>
          <p:nvPr/>
        </p:nvSpPr>
        <p:spPr>
          <a:xfrm>
            <a:off x="2664991" y="4105945"/>
            <a:ext cx="1587550" cy="226814"/>
          </a:xfrm>
          <a:prstGeom prst="rect">
            <a:avLst/>
          </a:prstGeom>
          <a:noFill/>
        </p:spPr>
        <p:txBody>
          <a:bodyPr wrap="none" lIns="0" tIns="0" rIns="0" bIns="0" rtlCol="0" anchor="t"/>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Terminal interface</a:t>
            </a:r>
            <a:endParaRPr lang="en-US" sz="1100" dirty="0"/>
          </a:p>
        </p:txBody>
      </p:sp>
      <p:sp>
        <p:nvSpPr>
          <p:cNvPr id="21" name="Text 19"/>
          <p:cNvSpPr/>
          <p:nvPr/>
        </p:nvSpPr>
        <p:spPr>
          <a:xfrm>
            <a:off x="4749701" y="1302023"/>
            <a:ext cx="2573834"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Two Modes of Operation</a:t>
            </a:r>
            <a:endParaRPr lang="en-US" sz="1350" dirty="0"/>
          </a:p>
        </p:txBody>
      </p:sp>
      <p:sp>
        <p:nvSpPr>
          <p:cNvPr id="22" name="Text 20"/>
          <p:cNvSpPr/>
          <p:nvPr/>
        </p:nvSpPr>
        <p:spPr>
          <a:xfrm>
            <a:off x="4749701" y="1665238"/>
            <a:ext cx="3902943" cy="1715244"/>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HireGraph AI supports both </a:t>
            </a:r>
            <a:r>
              <a:rPr lang="en-US" sz="110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interactive chat</a:t>
            </a: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 for live recruiter sessions and a scripted </a:t>
            </a:r>
            <a:r>
              <a:rPr lang="en-US" sz="110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--test mode</a:t>
            </a: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 that runs a fully automated 12-turn demo sequence, exercising every feature end-to-end without any manual input.</a:t>
            </a:r>
            <a:endParaRPr lang="en-US" sz="1100" dirty="0"/>
          </a:p>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The demo covers JD parsing, RAG screening, salary benchmarking, red-flag detection, batch reports, and human-in-the-loop confirmation flows.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43359"/>
            <a:ext cx="4722763" cy="885974"/>
          </a:xfrm>
          <a:prstGeom prst="rect">
            <a:avLst/>
          </a:prstGeom>
          <a:noFill/>
        </p:spPr>
        <p:txBody>
          <a:bodyPr wrap="square" lIns="0" tIns="0" rIns="0" bIns="0" rtlCol="0" anchor="t">
            <a:normAutofit/>
          </a:bodyPr>
          <a:lstStyle/>
          <a:p>
            <a:pPr marL="0" indent="0" algn="l">
              <a:lnSpc>
                <a:spcPct val="104000"/>
              </a:lnSpc>
              <a:buNone/>
            </a:pPr>
            <a:r>
              <a:rPr lang="en-US" sz="2750" b="1" dirty="0">
                <a:solidFill>
                  <a:srgbClr val="000000"/>
                </a:solidFill>
                <a:latin typeface="Inter Bold" panose="02000503000000020004" pitchFamily="34" charset="0"/>
                <a:ea typeface="Inter Bold" panose="02000503000000020004" pitchFamily="34" charset="-122"/>
                <a:cs typeface="Inter Bold" panose="02000503000000020004" pitchFamily="34" charset="-120"/>
              </a:rPr>
              <a:t>Consistent. Explainable. Cost-Aware.</a:t>
            </a:r>
            <a:endParaRPr lang="en-US" sz="2750" dirty="0"/>
          </a:p>
        </p:txBody>
      </p:sp>
      <p:sp>
        <p:nvSpPr>
          <p:cNvPr id="4" name="Shape 1"/>
          <p:cNvSpPr/>
          <p:nvPr/>
        </p:nvSpPr>
        <p:spPr>
          <a:xfrm>
            <a:off x="3925119" y="1541934"/>
            <a:ext cx="4722763" cy="2771924"/>
          </a:xfrm>
          <a:prstGeom prst="roundRect">
            <a:avLst>
              <a:gd name="adj" fmla="val 2148"/>
            </a:avLst>
          </a:prstGeom>
          <a:solidFill>
            <a:srgbClr val="DADBF1"/>
          </a:solidFill>
          <a:ln w="4763">
            <a:solidFill>
              <a:srgbClr val="C0C1D7"/>
            </a:solidFill>
            <a:prstDash val="solid"/>
          </a:ln>
        </p:spPr>
      </p:sp>
      <p:sp>
        <p:nvSpPr>
          <p:cNvPr id="5" name="Shape 2"/>
          <p:cNvSpPr/>
          <p:nvPr/>
        </p:nvSpPr>
        <p:spPr>
          <a:xfrm>
            <a:off x="3929881" y="1546696"/>
            <a:ext cx="2356619" cy="1718742"/>
          </a:xfrm>
          <a:prstGeom prst="rect">
            <a:avLst/>
          </a:prstGeom>
          <a:solidFill>
            <a:srgbClr val="DADBF1"/>
          </a:solidFill>
        </p:spPr>
      </p:sp>
      <p:sp>
        <p:nvSpPr>
          <p:cNvPr id="6" name="Text 3"/>
          <p:cNvSpPr/>
          <p:nvPr/>
        </p:nvSpPr>
        <p:spPr>
          <a:xfrm>
            <a:off x="4071640" y="1688455"/>
            <a:ext cx="2073101" cy="442913"/>
          </a:xfrm>
          <a:prstGeom prst="rect">
            <a:avLst/>
          </a:prstGeom>
          <a:noFill/>
        </p:spPr>
        <p:txBody>
          <a:bodyPr wrap="square" lIns="0" tIns="0" rIns="0" bIns="0" rtlCol="0" anchor="t">
            <a:normAutofit/>
          </a:bodyPr>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Consistent Screening</a:t>
            </a:r>
            <a:endParaRPr lang="en-US" sz="1350" dirty="0"/>
          </a:p>
        </p:txBody>
      </p:sp>
      <p:sp>
        <p:nvSpPr>
          <p:cNvPr id="7" name="Text 4"/>
          <p:cNvSpPr/>
          <p:nvPr/>
        </p:nvSpPr>
        <p:spPr>
          <a:xfrm>
            <a:off x="4071640" y="2216423"/>
            <a:ext cx="2073101" cy="680442"/>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Every candidate evaluated against the same structured criteria, every time.</a:t>
            </a:r>
            <a:endParaRPr lang="en-US" sz="1100" dirty="0"/>
          </a:p>
        </p:txBody>
      </p:sp>
      <p:sp>
        <p:nvSpPr>
          <p:cNvPr id="8" name="Shape 5"/>
          <p:cNvSpPr/>
          <p:nvPr/>
        </p:nvSpPr>
        <p:spPr>
          <a:xfrm>
            <a:off x="6286500" y="1546696"/>
            <a:ext cx="2356619" cy="1718742"/>
          </a:xfrm>
          <a:prstGeom prst="rect">
            <a:avLst/>
          </a:prstGeom>
          <a:solidFill>
            <a:srgbClr val="DADBF1"/>
          </a:solidFill>
        </p:spPr>
      </p:sp>
      <p:sp>
        <p:nvSpPr>
          <p:cNvPr id="9" name="Shape 6"/>
          <p:cNvSpPr/>
          <p:nvPr/>
        </p:nvSpPr>
        <p:spPr>
          <a:xfrm>
            <a:off x="6286500" y="1546696"/>
            <a:ext cx="19050" cy="1718742"/>
          </a:xfrm>
          <a:prstGeom prst="roundRect">
            <a:avLst>
              <a:gd name="adj" fmla="val 312558"/>
            </a:avLst>
          </a:prstGeom>
          <a:solidFill>
            <a:srgbClr val="C0C1D7"/>
          </a:solidFill>
        </p:spPr>
      </p:sp>
      <p:sp>
        <p:nvSpPr>
          <p:cNvPr id="10" name="Text 7"/>
          <p:cNvSpPr/>
          <p:nvPr/>
        </p:nvSpPr>
        <p:spPr>
          <a:xfrm>
            <a:off x="6428259" y="1688455"/>
            <a:ext cx="2073101" cy="442913"/>
          </a:xfrm>
          <a:prstGeom prst="rect">
            <a:avLst/>
          </a:prstGeom>
          <a:noFill/>
        </p:spPr>
        <p:txBody>
          <a:bodyPr wrap="square" lIns="0" tIns="0" rIns="0" bIns="0" rtlCol="0" anchor="t">
            <a:normAutofit/>
          </a:bodyPr>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Explainable Decisions</a:t>
            </a:r>
            <a:endParaRPr lang="en-US" sz="1350" dirty="0"/>
          </a:p>
        </p:txBody>
      </p:sp>
      <p:sp>
        <p:nvSpPr>
          <p:cNvPr id="11" name="Text 8"/>
          <p:cNvSpPr/>
          <p:nvPr/>
        </p:nvSpPr>
        <p:spPr>
          <a:xfrm>
            <a:off x="6428259" y="2216423"/>
            <a:ext cx="2073101" cy="907256"/>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Match scores and reasoning are grounded in the actual JD and resume content — no black box.</a:t>
            </a:r>
            <a:endParaRPr lang="en-US" sz="1100" dirty="0"/>
          </a:p>
        </p:txBody>
      </p:sp>
      <p:sp>
        <p:nvSpPr>
          <p:cNvPr id="12" name="Shape 9"/>
          <p:cNvSpPr/>
          <p:nvPr/>
        </p:nvSpPr>
        <p:spPr>
          <a:xfrm>
            <a:off x="3929881" y="3265438"/>
            <a:ext cx="4713238" cy="1043657"/>
          </a:xfrm>
          <a:prstGeom prst="rect">
            <a:avLst/>
          </a:prstGeom>
          <a:solidFill>
            <a:srgbClr val="DADBF1"/>
          </a:solidFill>
        </p:spPr>
      </p:sp>
      <p:sp>
        <p:nvSpPr>
          <p:cNvPr id="13" name="Shape 10"/>
          <p:cNvSpPr/>
          <p:nvPr/>
        </p:nvSpPr>
        <p:spPr>
          <a:xfrm>
            <a:off x="3929881" y="3265438"/>
            <a:ext cx="4713238" cy="19050"/>
          </a:xfrm>
          <a:prstGeom prst="roundRect">
            <a:avLst>
              <a:gd name="adj" fmla="val 312558"/>
            </a:avLst>
          </a:prstGeom>
          <a:solidFill>
            <a:srgbClr val="C0C1D7"/>
          </a:solidFill>
        </p:spPr>
      </p:sp>
      <p:sp>
        <p:nvSpPr>
          <p:cNvPr id="14" name="Text 11"/>
          <p:cNvSpPr/>
          <p:nvPr/>
        </p:nvSpPr>
        <p:spPr>
          <a:xfrm>
            <a:off x="4071640" y="3407197"/>
            <a:ext cx="2551881" cy="221456"/>
          </a:xfrm>
          <a:prstGeom prst="rect">
            <a:avLst/>
          </a:prstGeom>
          <a:noFill/>
        </p:spPr>
        <p:txBody>
          <a:bodyPr wrap="none" lIns="0" tIns="0" rIns="0" bIns="0" rtlCol="0" anchor="t"/>
          <a:lstStyle/>
          <a:p>
            <a:pPr marL="0" indent="0" algn="l">
              <a:lnSpc>
                <a:spcPct val="104000"/>
              </a:lnSpc>
              <a:buNone/>
            </a:pPr>
            <a:r>
              <a:rPr lang="en-US" sz="1350" b="1" dirty="0">
                <a:solidFill>
                  <a:srgbClr val="000000"/>
                </a:solidFill>
                <a:latin typeface="Twemoji Mozilla" pitchFamily="34" charset="0"/>
                <a:ea typeface="Twemoji Mozilla" pitchFamily="34" charset="-122"/>
                <a:cs typeface="Twemoji Mozilla" pitchFamily="34" charset="-120"/>
              </a:rPr>
              <a:t>💡</a:t>
            </a:r>
            <a:r>
              <a:rPr lang="en-US" sz="135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 Human Always in the Loop</a:t>
            </a:r>
            <a:endParaRPr lang="en-US" sz="1350" dirty="0"/>
          </a:p>
        </p:txBody>
      </p:sp>
      <p:sp>
        <p:nvSpPr>
          <p:cNvPr id="15" name="Text 12"/>
          <p:cNvSpPr/>
          <p:nvPr/>
        </p:nvSpPr>
        <p:spPr>
          <a:xfrm>
            <a:off x="4071640" y="3713708"/>
            <a:ext cx="4429720" cy="453628"/>
          </a:xfrm>
          <a:prstGeom prst="rect">
            <a:avLst/>
          </a:prstGeom>
          <a:noFill/>
        </p:spPr>
        <p:txBody>
          <a:bodyPr wrap="square" lIns="0" tIns="0" rIns="0" bIns="0" rtlCol="0" anchor="t">
            <a:normAutofit/>
          </a:bodyPr>
          <a:lstStyle/>
          <a:p>
            <a:pPr marL="0" indent="0" algn="l">
              <a:lnSpc>
                <a:spcPct val="133000"/>
              </a:lnSpc>
              <a:buNone/>
            </a:pPr>
            <a:r>
              <a:rPr lang="en-US" sz="1100" dirty="0">
                <a:solidFill>
                  <a:srgbClr val="272525"/>
                </a:solidFill>
                <a:latin typeface="Inter" panose="02000503000000020004" pitchFamily="34" charset="0"/>
                <a:ea typeface="Inter" panose="02000503000000020004" pitchFamily="34" charset="-122"/>
                <a:cs typeface="Inter" panose="02000503000000020004" pitchFamily="34" charset="-120"/>
              </a:rPr>
              <a:t>No consequential action executes without explicit recruiter confirmation.</a:t>
            </a:r>
            <a:endParaRPr lang="en-US" sz="1100" dirty="0"/>
          </a:p>
        </p:txBody>
      </p:sp>
      <p:sp>
        <p:nvSpPr>
          <p:cNvPr id="16" name="Text 13"/>
          <p:cNvSpPr/>
          <p:nvPr/>
        </p:nvSpPr>
        <p:spPr>
          <a:xfrm>
            <a:off x="3696519" y="4473327"/>
            <a:ext cx="5179963" cy="226814"/>
          </a:xfrm>
          <a:prstGeom prst="rect">
            <a:avLst/>
          </a:prstGeom>
          <a:noFill/>
        </p:spPr>
        <p:txBody>
          <a:bodyPr wrap="none" lIns="0" tIns="0" rIns="0" bIns="0" rtlCol="0" anchor="t"/>
          <a:lstStyle/>
          <a:p>
            <a:pPr marL="0" indent="0" algn="ctr">
              <a:lnSpc>
                <a:spcPct val="133000"/>
              </a:lnSpc>
              <a:buNone/>
            </a:pPr>
            <a:r>
              <a:rPr lang="en-US" sz="1100" b="1" dirty="0">
                <a:solidFill>
                  <a:srgbClr val="272525"/>
                </a:solidFill>
                <a:latin typeface="Inter Bold" panose="02000503000000020004" pitchFamily="34" charset="0"/>
                <a:ea typeface="Inter Bold" panose="02000503000000020004" pitchFamily="34" charset="-122"/>
                <a:cs typeface="Inter Bold" panose="02000503000000020004" pitchFamily="34" charset="-120"/>
              </a:rPr>
              <a:t>Thank you.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4281</Words>
  <Application>WPS Presentation</Application>
  <PresentationFormat>On-screen Show (16:9)</PresentationFormat>
  <Paragraphs>141</Paragraphs>
  <Slides>10</Slides>
  <Notes>11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10</vt:i4>
      </vt:variant>
    </vt:vector>
  </HeadingPairs>
  <TitlesOfParts>
    <vt:vector size="30" baseType="lpstr">
      <vt:lpstr>Arial</vt:lpstr>
      <vt:lpstr>SimSun</vt:lpstr>
      <vt:lpstr>Wingdings</vt:lpstr>
      <vt:lpstr>Inter Bold</vt:lpstr>
      <vt:lpstr>Inter Bold</vt:lpstr>
      <vt:lpstr>Inter Bold</vt:lpstr>
      <vt:lpstr>Inter</vt:lpstr>
      <vt:lpstr>Inter</vt:lpstr>
      <vt:lpstr>Inter</vt:lpstr>
      <vt:lpstr>Twemoji Mozilla</vt:lpstr>
      <vt:lpstr>Segoe Print</vt:lpstr>
      <vt:lpstr>Twemoji Mozilla</vt:lpstr>
      <vt:lpstr>Twemoji Mozilla</vt:lpstr>
      <vt:lpstr>Calibri</vt:lpstr>
      <vt:lpstr>Microsoft YaHei</vt:lpstr>
      <vt:lpstr>Arial Unicode MS</vt:lpstr>
      <vt:lpstr>Aptos</vt:lpstr>
      <vt:lpstr>Segoe UI</vt:lpstr>
      <vt:lpstr>MingLiU</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mohd hameedkhan</cp:lastModifiedBy>
  <cp:revision>3</cp:revision>
  <dcterms:created xsi:type="dcterms:W3CDTF">2026-07-05T01:24:00Z</dcterms:created>
  <dcterms:modified xsi:type="dcterms:W3CDTF">2026-07-05T02:01:44Z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C008F2BA2C574426B702B4CB73FE2495_12</vt:lpwstr>
  </property>
  <property fmtid="{D5CDD505-2E9C-101B-9397-08002B2CF9AE}" pid="3" name="KSOProductBuildVer">
    <vt:lpwstr>1033-12.1.0.26880</vt:lpwstr>
  </property>
</Properties>
</file>